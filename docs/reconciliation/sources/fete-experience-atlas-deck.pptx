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1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Quadrants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5F2D"/>
              </a:solidFill>
              <a:effectLst/>
            </c:spPr>
          </c:dPt>
          <c:dPt>
            <c:idx val="1"/>
            <c:bubble3D val="0"/>
            <c:spPr>
              <a:solidFill>
                <a:srgbClr val="C9A04E"/>
              </a:solidFill>
              <a:effectLst/>
            </c:spPr>
          </c:dPt>
          <c:dPt>
            <c:idx val="2"/>
            <c:bubble3D val="0"/>
            <c:spPr>
              <a:solidFill>
                <a:srgbClr val="1E3A60"/>
              </a:solidFill>
              <a:effectLst/>
            </c:spPr>
          </c:dPt>
          <c:dPt>
            <c:idx val="3"/>
            <c:bubble3D val="0"/>
            <c:spPr>
              <a:solidFill>
                <a:srgbClr val="8B1E1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AUTO (22)</c:v>
                </c:pt>
                <c:pt idx="1">
                  <c:v>AUG-HITL (28)</c:v>
                </c:pt>
                <c:pt idx="2">
                  <c:v>HUMAN-AI (13)</c:v>
                </c:pt>
                <c:pt idx="3">
                  <c:v>HUMAN (15)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22</c:v>
                </c:pt>
                <c:pt idx="1">
                  <c:v>28</c:v>
                </c:pt>
                <c:pt idx="2">
                  <c:v>13</c:v>
                </c:pt>
                <c:pt idx="3">
                  <c:v>15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BFAF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371600"/>
            <a:ext cx="1280160" cy="36576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6012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FÊTE KIDS — INTERNAL · FOUNDING TEAM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8138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B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Experience-to-Atomic Atlas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29718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6B6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operating spine we iterate designs against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454914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6B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  ·   May 2026   ·   Not for distribution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FRAME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document exists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don't start with process. We start with the customer's wish, and we work backward.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36576" cy="2377440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55448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wish first.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7512" y="1965960"/>
            <a:ext cx="23957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construct the 5-star review we want Caroline to write. That review is the contract. Everything in this atlas exists to produce a sentence in it.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91840" y="1554480"/>
            <a:ext cx="36576" cy="2377440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56432" y="155448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spine, not the plan.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56432" y="1965960"/>
            <a:ext cx="23957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layers from brand promise down to 78 atomic tasks. Stable structure. Persona-tunable surface. No timelines, no staffing, no sequencing.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80760" y="1554480"/>
            <a:ext cx="36576" cy="2377440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45352" y="155448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lens for design.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45352" y="1965960"/>
            <a:ext cx="23957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design we ship — workflow, agent, asset, ROS template — is iterated against the benchmarks and failure modes recorded against the atoms it touches.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4160520"/>
            <a:ext cx="8138160" cy="548640"/>
          </a:xfrm>
          <a:prstGeom prst="rect">
            <a:avLst/>
          </a:prstGeom>
          <a:solidFill>
            <a:srgbClr val="F5F1E3"/>
          </a:solidFill>
          <a:ln w="12700">
            <a:solidFill>
              <a:srgbClr val="F5F1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206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voices:  </a:t>
            </a:r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 — MECE &amp; layering.   Brand Manager — promise integrity.   Designer — craft &amp; sensory continuity.   Developer — what models can do at the bar.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8508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Frame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122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Fête Atlas v1   ·   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1371600"/>
            <a:ext cx="8138160" cy="10973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FRAME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read this deck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Optimized for solo onboarding read-through. Re-readable. Section-indexed.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81381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023360"/>
                <a:gridCol w="26517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What's in 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to come back to 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Frame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Why, voices, method, scope discipline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read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The Anchor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Caroline persona + the 5-star review + 15 outcomes (R1–R15)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designing anything customer-facing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The Spine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Layers 0–4: promise → arcs → phases → workstreams → atoms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orienting a new collaborator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Variant Groupings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Seven re-cuts of the atoms (G1–G7)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opening a new design cycle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The 78 Atoms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inventory by arc: benchmark + failure mode + workstream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iterating any specific atom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· Automation Quadrant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P(auto) × Value scoring; AUTO / AUG-HITL / HUMAN-AI / HUMAN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evaluating where to build agents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· Strategic Read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atlas tells us about the business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pitching the model internally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· Index &amp; Appendix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Glossary, cross-references, design pointers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close at hand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8508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Frame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8122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Fête Atlas v1   ·   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1371600"/>
            <a:ext cx="8138160" cy="10973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FRAME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atlas is not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 discipline. Saying no early is half the work.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0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457200" cy="22860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9659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map.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2402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wish → 5 arcs → 15 phases → 9 workstreams → 78 atoms.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benchmark sheet.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8803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atom carries the failure mode and the 5-star quality bar.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246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design index.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5204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groupings let us slice the atlas by whatever the next iteration needs.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persona-stable structure.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41605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atoms don't move when the customer register shifts. The voice does.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00600" y="14630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NOT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00600" y="1783080"/>
            <a:ext cx="457200" cy="22860"/>
          </a:xfrm>
          <a:prstGeom prst="rect">
            <a:avLst/>
          </a:prstGeom>
          <a:solidFill>
            <a:srgbClr val="8B1E1E"/>
          </a:solidFill>
          <a:ln w="12700">
            <a:solidFill>
              <a:srgbClr val="8B1E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9659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plan.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22402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timeline, no Gantt, no sprint.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00600" y="26060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staffing model.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28803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org chart, no role assignments, no headcount.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00600" y="3246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roadmap.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35204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 belongs in implementation, not here.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00600" y="3886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pitch.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41605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re-pitch of the business. Founding-team register, internal.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48508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Frame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122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Fête Atlas v1   ·   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1371600"/>
            <a:ext cx="8138160" cy="10973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7724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C9A0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0" dirty="0"/>
          </a:p>
        </p:txBody>
      </p:sp>
      <p:sp>
        <p:nvSpPr>
          <p:cNvPr id="3" name="Text 1"/>
          <p:cNvSpPr/>
          <p:nvPr/>
        </p:nvSpPr>
        <p:spPr>
          <a:xfrm>
            <a:off x="502920" y="2606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C6B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40480" y="169164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Anchor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840480" y="2542032"/>
            <a:ext cx="548640" cy="27432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0" y="26974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6B6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Caroline, the wish, and the 15 outcomes we work backward from.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THE ANCHOR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is the reviewer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Caroline “Cal” Whitman-Hollister — composite, ICP-representative.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3749040" cy="2743200"/>
          </a:xfrm>
          <a:prstGeom prst="rect">
            <a:avLst/>
          </a:prstGeom>
          <a:solidFill>
            <a:srgbClr val="F5F1E3"/>
          </a:solidFill>
          <a:ln w="12700">
            <a:solidFill>
              <a:srgbClr val="F5F1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54480"/>
            <a:ext cx="54864" cy="2743200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1907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Caroline “Cal” Whitman-Hollister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· Hillsborough · Partner, Sand Hill seed fund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Third-generation Bay Area. Stanford undergrad + GSB. Grandmother chaired the SF Symphony Gala. Board seat at a Bay Area arts auxiliary; chairs the school auction committee.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Married to a senior partner at a top firm. Two children: Charlotte (6, the birthday), Beckett (3).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Quietly central in the same mothers' club Fête's CD is embedded in. Posts rarely; when she does, it lands.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17720" y="15544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 CALIBRATION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17720" y="1828800"/>
            <a:ext cx="4023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Established, not aspirational.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inside. The party is not a proof point — it's an expression.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Allergic to: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Visible expense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Vulgarity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Being project-managed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for taste and judgment. Will not pay to be the PM of her own party.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event: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Charlotte's 6th — “Wisteria.” 80 guests (32 children, 48 adults), family home in Hillsborough.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45491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 note: persona-stable atoms, persona-specific register. Tone-trained drafting atoms (T15, T22, T23, T44, T67) are calibrated to this voice.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48508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The Anchor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122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Fête Atlas v1   ·   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1371600"/>
            <a:ext cx="8138160" cy="10973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 WE WORK BACKWARD FROM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800" kern="0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★ ★ ★ ★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1188720"/>
            <a:ext cx="7589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B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 will say this once and then I'll go back to pretending Fête found me by accident: I've hosted everything from the fund's LP dinner to the auction at school, and Charlotte's birthday was the first event in my adult life where I was present at my own party.</a:t>
            </a:r>
            <a:endParaRPr lang="en-US" sz="1350" dirty="0"/>
          </a:p>
          <a:p>
            <a:pPr indent="0" marL="0">
              <a:buNone/>
            </a:pPr>
            <a:r>
              <a:rPr lang="en-US" sz="400" i="1" dirty="0">
                <a:solidFill>
                  <a:srgbClr val="FB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i="1" dirty="0">
                <a:solidFill>
                  <a:srgbClr val="FB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intake felt like a conversation with a friend who already had the brief. I sent three photographs and a sentence about the wisteria my grandmother planted at the house, and what came back two days later was a moodboard I genuinely wanted to print. It wasn't a children's party in the catalog sense — it was ours. They had pulled a ceramicist out of Carmel I had never come across. The florist they paired us with sent options at the number I'd quietly given them, not the number on the household ledger.”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47320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C6B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Caroline W-H · part 1 of 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800" kern="0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★ ★ ★ ★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7589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B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“On the day, no one asked me anything. The run-of-show was so tight I noticed the rhythm but not the mechanics. The children moved through three stations and didn't realize they were being moved. There was a moment around 4 when the adults transitioned to drinks under the pergola and the children had already eaten — I have no idea how that happened. My mother-in-law, who has critiqued every event I have hosted in this family for nine years, asked me whether Fête would do her 70th.</a:t>
            </a:r>
            <a:endParaRPr lang="en-US" sz="1300" dirty="0"/>
          </a:p>
          <a:p>
            <a:pPr indent="0" marL="0">
              <a:buNone/>
            </a:pPr>
            <a:r>
              <a:rPr lang="en-US" sz="400" i="1" dirty="0">
                <a:solidFill>
                  <a:srgbClr val="FB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B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photographs were in a shared album by Sunday morning before the school threads woke up. Three of them are framed in the hallway. I have sent Fête to four mothers in this club already and one of them sits on the board of the museum, so this is the highest endorsement I have. </a:t>
            </a:r>
            <a:pPr indent="0" marL="0">
              <a:buNone/>
            </a:pPr>
            <a:r>
              <a:rPr lang="en-US" sz="1300" b="1" i="1" dirty="0">
                <a:solidFill>
                  <a:srgbClr val="C9A0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did not feel managed. I felt staged for.</a:t>
            </a:r>
            <a:pPr indent="0" marL="0">
              <a:buNone/>
            </a:pPr>
            <a:r>
              <a:rPr lang="en-US" sz="1300" i="1" dirty="0">
                <a:solidFill>
                  <a:srgbClr val="FB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”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47320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C6B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Caroline W-H · part 2 of 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THE ANCHOR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Outcome decomposition · R1 → R8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sentence she said is a deliverable we owe. Map: what she felt → what we caused.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813816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3108960"/>
                <a:gridCol w="45720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she felt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caused (operational antecedent)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“Present at my own party.” Hostess mode dissolved.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Zero-question execution. Every decision pre-resolved.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“A friend who had the brief.”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Pre-call enrichment from public + warm sources; intake as conversation.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Disproportionate creative return on sparse input.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 of taste vector from minimal signal; moodboard at print quality.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reflected, not category dressed up.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Taste vector dominates over genre conventions.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Discovery, status, novelty (the Carmel ceramicist).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Long-tail sourcing beyond local rolodex; surprise budget by design.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Discretion, household decorum.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Dual-budget routing; no leak to ledger-visible artifacts.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Day-of cognitive offload.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ROS; decision rights pre-assigned; escalation excludes hostess.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Rhythm felt, mechanics invisible.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Sensory cue sheet; non-verbal staff coordination.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8508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The Anchor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8122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Fête Atlas v1   ·   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1371600"/>
            <a:ext cx="8138160" cy="10973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THE ANCHOR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Outcome decomposition · R9 → R15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bottom of the review is the loop. Loop closes here or it doesn't close.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813816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3108960"/>
                <a:gridCol w="4572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she felt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caused (operational antecedent)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Effortless choreography of children.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Child-flow design; intrinsic-pull stations; trained child-handling staff.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Magic, dual-tier event invisible to her.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Parallel-track programming; kid track ends before adult track begins.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In-network social proof (mother-in-law turned).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high enough to silence the in-family critic.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Velocity beat the network.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Same-night photo curation; album beats the school threads.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Print-grade output.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CD-grade photography; editorial selection; print-ready exports.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becomes the distribution channel.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Referral surface activated at the emotional peak; frictionless intro.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0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i="1" dirty="0">
                          <a:solidFill>
                            <a:srgbClr val="0F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“Did not feel managed. Felt staged for.”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META-PROMISE. Every customer-visible artifact rendered to a guest aesthetic.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5491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BM: R15 belongs on a wall. Everything in this atlas is in service of it.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2920" y="48508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The Anchor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8122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Fête Atlas v1   ·   6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02920" y="1371600"/>
            <a:ext cx="8138160" cy="10973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7724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C9A0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0" dirty="0"/>
          </a:p>
        </p:txBody>
      </p:sp>
      <p:sp>
        <p:nvSpPr>
          <p:cNvPr id="3" name="Text 1"/>
          <p:cNvSpPr/>
          <p:nvPr/>
        </p:nvSpPr>
        <p:spPr>
          <a:xfrm>
            <a:off x="502920" y="2606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C6B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40480" y="169164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Spine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840480" y="2542032"/>
            <a:ext cx="548640" cy="27432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0" y="26974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6B6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layers from one immutable promise to seventy-eight atomic tasks.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THE SPINE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0 · The Brand Promise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sentence. Immutable. The contract this atlas defends.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8138160" cy="169164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00200"/>
            <a:ext cx="73152" cy="1691640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91640"/>
            <a:ext cx="7498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B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“You will be the guest of honor at your own party,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B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the party will look like you, not like a party.”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35204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clauses, decomposed: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38221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Clause 1 — Guest of honor.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409651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is unbusy on the day. We absorb every decision. Arc D's HUMAN atoms exist for this.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09160" y="38221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Clause 2 — Looks like her.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09160" y="409651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reflected, not genre executed. Taste vector dominates; CD arbitrates. The membrane is enforced.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48508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The Spine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122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Fête Atlas v1   ·   7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1371600"/>
            <a:ext cx="8138160" cy="10973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THE SPINE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1 · Five customer arcs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 arrives in one state. She leaves in another. Five times.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457200" cy="457200"/>
          </a:xfrm>
          <a:prstGeom prst="ellipse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9105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0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554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 &amp;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703320" y="1554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Skeptical, has been burned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0" y="1554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37960" y="1554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“These people get it”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139696"/>
            <a:ext cx="457200" cy="457200"/>
          </a:xfrm>
          <a:prstGeom prst="ellipse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7627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0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213969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 &amp; Commit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03320" y="213969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feeling, no plan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0" y="213969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37960" y="21396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Moodboard, a trusted number, a calendar hold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2724912"/>
            <a:ext cx="457200" cy="457200"/>
          </a:xfrm>
          <a:prstGeom prst="ellipse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7614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0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27249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03320" y="27249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Signed, now waiting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0" y="272491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37960" y="272491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the machine runs without her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310128"/>
            <a:ext cx="457200" cy="457200"/>
          </a:xfrm>
          <a:prstGeom prst="ellipse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34670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0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43000" y="33101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Day-Of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703320" y="33101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to become PM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0" y="331012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37960" y="33101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of honor; present at her own party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3895344"/>
            <a:ext cx="457200" cy="457200"/>
          </a:xfrm>
          <a:prstGeom prst="ellipse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9319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0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143000" y="389534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Afterglow &amp; Loop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703320" y="389534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ends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0" y="389534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37960" y="389534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Album delivered, in-laws converted, four referrals out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2920" y="48508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The Spine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122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Fête Atlas v1   ·   8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02920" y="1371600"/>
            <a:ext cx="8138160" cy="10973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THE SPINE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2 · Fifteen phases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arcs decomposed into the operational moments we manage individually.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292608" cy="292608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00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86968" y="15544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417320" y="155448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capture &amp; pre-qualification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1993392"/>
            <a:ext cx="292608" cy="292608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93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968" y="194767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417320" y="194767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Pre-call enrichment (who she is, what she's hosted, her aesthetic)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386584"/>
            <a:ext cx="292608" cy="292608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386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968" y="234086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417320" y="2340864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call (“conversation with a friend”)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2779776"/>
            <a:ext cx="292608" cy="292608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779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86968" y="273405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P04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417320" y="273405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Taste-vector synthesis (sparse signal → aesthetic posture)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3172968"/>
            <a:ext cx="292608" cy="292608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172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86968" y="312724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P05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417320" y="312724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&amp; moodboard composition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3566160"/>
            <a:ext cx="292608" cy="292608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566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86968" y="35204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P06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417320" y="352044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shortlisting &amp; pairing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3959352"/>
            <a:ext cx="292608" cy="292608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959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86968" y="391363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P07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417320" y="391363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framing &amp; dual-track financial alignment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2920" y="4352544"/>
            <a:ext cx="292608" cy="292608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352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86968" y="430682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P08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417320" y="4306824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&amp; commit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54880" y="1600200"/>
            <a:ext cx="292608" cy="292608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1600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138928" y="15544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P09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669280" y="155448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negotiation, contracts, deposits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54880" y="1993392"/>
            <a:ext cx="292608" cy="292608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1993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138928" y="194767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669280" y="194767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Run-of-show; child-flow choreography; parallel-track design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754880" y="2386584"/>
            <a:ext cx="292608" cy="292608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2386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138928" y="234086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P11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669280" y="2340864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Pre-day rehearsal of decisions, not just logistics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54880" y="2779776"/>
            <a:ext cx="292608" cy="292608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0" y="2779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138928" y="273405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P12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669280" y="273405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execution &amp; staff orchestration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754880" y="3172968"/>
            <a:ext cx="292608" cy="292608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54880" y="3172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138928" y="312724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P13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5669280" y="312724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Day-of photography &amp; content capture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754880" y="3566160"/>
            <a:ext cx="292608" cy="292608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54880" y="3566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5138928" y="35204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P14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5669280" y="352044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Same-night curation; album delivery race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754880" y="3959352"/>
            <a:ext cx="292608" cy="292608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54880" y="3959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5138928" y="391363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P15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5669280" y="391363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activation; loop close; vendor scoring; CRM enrich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02920" y="48508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The Spine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8122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Fête Atlas v1   ·   9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02920" y="1371600"/>
            <a:ext cx="8138160" cy="10973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THE SPINE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3 · Nine workstreams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published agent surfaces. Three honestly-human lanes.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SURFACES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548640" cy="18288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920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3000" y="1920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intake &amp; qualification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3000" y="2331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ideation &amp; moodboarding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743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2743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matching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1546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3000" y="3154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negotiation &amp; contracting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566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" y="3566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&amp; run-of-show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977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3000" y="3977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Post-event delivery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1508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HUMAN-LED LANES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1783080"/>
            <a:ext cx="548640" cy="18288"/>
          </a:xfrm>
          <a:prstGeom prst="rect">
            <a:avLst/>
          </a:prstGeom>
          <a:solidFill>
            <a:srgbClr val="8B1E1E"/>
          </a:solidFill>
          <a:ln w="12700">
            <a:solidFill>
              <a:srgbClr val="8B1E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920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49240" y="1920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 arbitration (CD judgment)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09160" y="2331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WS8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49240" y="2331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execution (planner-on-ground)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9160" y="2743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WS9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49240" y="2743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custody (CD/CEO ↔ mother)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4114800"/>
            <a:ext cx="8138160" cy="548640"/>
          </a:xfrm>
          <a:prstGeom prst="rect">
            <a:avLst/>
          </a:prstGeom>
          <a:solidFill>
            <a:srgbClr val="F5F1E3"/>
          </a:solidFill>
          <a:ln w="12700">
            <a:solidFill>
              <a:srgbClr val="F5F1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160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D: the published six are the surfaces customers and operators interact with. The three human lanes are the brand. Naming all nine on the same page is the discipline.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48508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The Spine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122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Fête Atlas v1   ·   10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2920" y="1371600"/>
            <a:ext cx="8138160" cy="10973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THE SPINE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4 · Seventy-eight atoms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atom carries: phase, workstream, skill, inputs → outputs, failure mode, 5-star benchmark.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8138160" cy="1417320"/>
          </a:xfrm>
          <a:prstGeom prst="rect">
            <a:avLst/>
          </a:prstGeom>
          <a:solidFill>
            <a:srgbClr val="F5F1E3"/>
          </a:solidFill>
          <a:ln w="12700">
            <a:solidFill>
              <a:srgbClr val="F5F1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54480"/>
            <a:ext cx="54864" cy="1417320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276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 SCHEMA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920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Tnn </a:t>
            </a:r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Phase | Workstream | Skill class | Input → Output | Failure mode | Benchmark (“5-star looks like…”)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331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classes:  TST taste · LOG logistics · NEG negotiation · CRF craft · CAR care · ANL analysis · COM communication · OPS operations.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236976"/>
            <a:ext cx="36576" cy="237744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320040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A — Discovery &amp; Trust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60520" y="32004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T01 – T10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172200" y="320040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atoms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547872"/>
            <a:ext cx="36576" cy="237744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35112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B — Vision &amp; Commit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60520" y="351129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T11 – T28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72200" y="351129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atoms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858768"/>
            <a:ext cx="36576" cy="237744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38221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C — Build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60520" y="382219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T29 – T48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72200" y="38221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atoms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4169664"/>
            <a:ext cx="36576" cy="237744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413308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D — Day-Of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60520" y="41330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T49 – T62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172200" y="41330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atoms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4480560"/>
            <a:ext cx="36576" cy="237744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" y="444398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E — Afterglow &amp; Loop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60520" y="444398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T63 – T78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172200" y="444398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atoms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48508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The Spine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122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Fête Atlas v1   ·   11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" y="1371600"/>
            <a:ext cx="8138160" cy="10973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7724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C9A0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0" dirty="0"/>
          </a:p>
        </p:txBody>
      </p:sp>
      <p:sp>
        <p:nvSpPr>
          <p:cNvPr id="3" name="Text 1"/>
          <p:cNvSpPr/>
          <p:nvPr/>
        </p:nvSpPr>
        <p:spPr>
          <a:xfrm>
            <a:off x="502920" y="2606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C6B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40480" y="169164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Variant Groupings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840480" y="2542032"/>
            <a:ext cx="548640" cy="27432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0" y="26974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6B6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re-cuts of the same atoms. Pick one when you start a design cycle.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— VARIANT GROUPINGS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G1 – G4 · Structural lenses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atoms are stable. These lenses are the surfaces design iterates against.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3886200" cy="1280160"/>
          </a:xfrm>
          <a:prstGeom prst="rect">
            <a:avLst/>
          </a:prstGeom>
          <a:solidFill>
            <a:srgbClr val="F5F1E3"/>
          </a:solidFill>
          <a:ln w="12700">
            <a:solidFill>
              <a:srgbClr val="F5F1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54480"/>
            <a:ext cx="54864" cy="1280160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642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0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6642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vs Back-of-house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05740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customer perceive this? Stage atoms render to her aesthetic. BoH atoms are ruthlessly efficient. The boundary IS the membrane in R15.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554480"/>
            <a:ext cx="3886200" cy="1280160"/>
          </a:xfrm>
          <a:prstGeom prst="rect">
            <a:avLst/>
          </a:prstGeom>
          <a:solidFill>
            <a:srgbClr val="F5F1E3"/>
          </a:solidFill>
          <a:ln w="12700">
            <a:solidFill>
              <a:srgbClr val="F5F1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54480"/>
            <a:ext cx="54864" cy="1280160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6642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0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32120" y="16642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Taste-bearing vs Logistics-bearing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05740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quality bars, different automation thresholds. Taste cannot miss the benchmark; logistics can miss and recover.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971800"/>
            <a:ext cx="3886200" cy="1280160"/>
          </a:xfrm>
          <a:prstGeom prst="rect">
            <a:avLst/>
          </a:prstGeom>
          <a:solidFill>
            <a:srgbClr val="F5F1E3"/>
          </a:solidFill>
          <a:ln w="12700">
            <a:solidFill>
              <a:srgbClr val="F5F1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971800"/>
            <a:ext cx="54864" cy="1280160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08152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0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0815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Reversible vs Brand-destroying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347472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floral substitution: reversible. Bad photo of the mother-in-law in the album: not. Drives risk weighting for automation.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971800"/>
            <a:ext cx="3886200" cy="1280160"/>
          </a:xfrm>
          <a:prstGeom prst="rect">
            <a:avLst/>
          </a:prstGeom>
          <a:solidFill>
            <a:srgbClr val="F5F1E3"/>
          </a:solidFill>
          <a:ln w="12700">
            <a:solidFill>
              <a:srgbClr val="F5F1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971800"/>
            <a:ext cx="54864" cy="1280160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08152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0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32120" y="30815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Information artifact axis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347472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what's produced: the brief, the moodboard, the vendor pack, the ROS, the cue sheet, the album, the recap. The unit of iteration.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48508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Variant Groupings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122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Fête Atlas v1   ·   12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1371600"/>
            <a:ext cx="8138160" cy="10973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— VARIANT GROUPINGS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G5 – G7 · Value and channel lenses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the same 78 atoms through compounding leverage, sensory channel, and cost driver.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8138160" cy="914400"/>
          </a:xfrm>
          <a:prstGeom prst="rect">
            <a:avLst/>
          </a:prstGeom>
          <a:solidFill>
            <a:srgbClr val="F5F1E3"/>
          </a:solidFill>
          <a:ln w="12700">
            <a:solidFill>
              <a:srgbClr val="F5F1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63040"/>
            <a:ext cx="54864" cy="914400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727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0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G5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57276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Asset compounding axis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88366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which of two assets each atom builds — the referral asset or the vendor network asset. Atoms that build neither get scrutinized.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505456"/>
            <a:ext cx="8138160" cy="914400"/>
          </a:xfrm>
          <a:prstGeom prst="rect">
            <a:avLst/>
          </a:prstGeom>
          <a:solidFill>
            <a:srgbClr val="F5F1E3"/>
          </a:solidFill>
          <a:ln w="12700">
            <a:solidFill>
              <a:srgbClr val="F5F1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505456"/>
            <a:ext cx="54864" cy="914400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61518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0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61518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Sensory channel axis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2926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Written, visual, spoken, kinesthetic (room flow), social (other guests' reaction). Used to audit completeness — most parties under-invest in spoken and social.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547872"/>
            <a:ext cx="8138160" cy="914400"/>
          </a:xfrm>
          <a:prstGeom prst="rect">
            <a:avLst/>
          </a:prstGeom>
          <a:solidFill>
            <a:srgbClr val="F5F1E3"/>
          </a:solidFill>
          <a:ln w="12700">
            <a:solidFill>
              <a:srgbClr val="F5F1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547872"/>
            <a:ext cx="54864" cy="914400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657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0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G7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65760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Cost-driver axis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396849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what makes this expensive today: planner hours, vendor margin, error tax, opportunity cost. Drives the automation value score.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8508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Variant Groupings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122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Fête Atlas v1   ·   13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1371600"/>
            <a:ext cx="8138160" cy="10973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7724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C9A0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0" dirty="0"/>
          </a:p>
        </p:txBody>
      </p:sp>
      <p:sp>
        <p:nvSpPr>
          <p:cNvPr id="3" name="Text 1"/>
          <p:cNvSpPr/>
          <p:nvPr/>
        </p:nvSpPr>
        <p:spPr>
          <a:xfrm>
            <a:off x="502920" y="2606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C6B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40480" y="169164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78 Atoms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840480" y="2542032"/>
            <a:ext cx="548640" cy="27432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0" y="26974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6B6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full inventory by arc. Read row-wise. Iterate against benchmark + failure mode.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— THE 78 ATOMS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 A · Discovery &amp; Trust (T01–T10)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 walks in skeptical. She leaves saying these people get it.</a:t>
            </a:r>
            <a:endParaRPr lang="en-US" sz="1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81381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291840"/>
                <a:gridCol w="914400"/>
                <a:gridCol w="3566160"/>
              </a:tblGrid>
              <a:tr h="29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 · Skill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mode → 5-star benchmark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29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 inbound to single qualified-lead record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OPS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 / duplicated → one record in minutes, source preserved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Qualify against ICP filter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ANL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lead consumes CD calendar → triage tier with rationale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Enrich identity (LI, press, fund/board, IG aesthetic)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ANL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Cold; she has to explain herself → 2-pg brief in 4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 aesthetic posture from public signal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ANL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creative direction → moodboard hits first pass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 status / discretion sensitivities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ANL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Discretion breach → flags in CRM before the call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 call — conversational, not interview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CAR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like a form → she volunteers the unspoken thing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 stated + unstated brief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COM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Defaults to genre → R4: “it was ours”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 taste-arbitration of the brief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· TST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 execution → the thing she didn't ask for shows 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Same-day recap note: “here is what we heard”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COM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Loses momentum → she forwards it to husband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private channel with named human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· CAR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Agency-grade email → direct line, &lt; 2h response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8508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The 78 Atoms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8122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Fête Atlas v1   ·   14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1371600"/>
            <a:ext cx="8138160" cy="10973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— THE 78 ATOMS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 B · Vision &amp; Commit (T11–T20)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Sparse signal → moodboard she wants to print, a number she trusts, a calendar hold.</a:t>
            </a:r>
            <a:endParaRPr lang="en-US" sz="1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81381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291840"/>
                <a:gridCol w="914400"/>
                <a:gridCol w="3566160"/>
              </a:tblGrid>
              <a:tr h="29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 · Skill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mode → 5-star benchmark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29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Synthesize taste vector from intake + enrichment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ANL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Dominated by category templates → distinct from “kids' party” SERP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3 axes to push / 3 to suppress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ANL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Bland centroid → audible yes/no from CD on review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Compose moodboard at editorial quality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CRF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Slide-deck collage → R3, R13: print-frame quality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 final pass on moodboard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· TST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“AI moodboard” smell → includes the Carmel anchor (R5)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moodboard caption deck — story, not labels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COM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as inventory → she reads it aloud over coffee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 vendor longlist conditioned on taste vector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ANL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Top-of-rolodex default → ≥1 long-tail discovery per 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Cross-check availability + social-overlap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ANL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Awkward double-book → zero overlap, one delightful coincidence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Shortlist with rationale — why this florist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ANL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as catalog → each entry justified in one line of taste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 pairing — florist × ceramicist × stationer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· TST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Picks fine, ensemble dissonant → photographs as one event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 the dual-budget question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CAR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via spouse-visible artifact → R6: private number protected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8508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The 78 Atoms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8122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Fête Atlas v1   ·   15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1371600"/>
            <a:ext cx="8138160" cy="10973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— THE 78 ATOMS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 B · Vision &amp; Commit, cont. (T21–T28)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Pre-negotiated, story-told, committed, and quietly introduced to her planner.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81381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291840"/>
                <a:gridCol w="914400"/>
                <a:gridCol w="356616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 · Skill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mode → 5-star benchmark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Pre-negotiate vendor ranges before quoting hostess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NEG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Quote-then-haggle dance → number to hostess is the number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 tiered scope without insulting the lower tier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COM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“Pay more to be respected” → she picks middle, feels she chose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 proposal as a story document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COM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as legal-grade SOW → she wants to keep 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 commit: signature, deposit, calendar hold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OPS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Slippage on calendar → same-day commit-to-close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 event project record; instantiate workstreams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· OPS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handoff loses context → zero context loss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Planner-on-ground introduced by name (voice memo)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· CAR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 handoff → she knows the human who'll be there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 the “key image” — press still of the event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CRF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event imagery → she uses it to invite people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Invite copy + visual aligned to the moodboard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COM/CRF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Invite ≠ event aesthetic → photo on the day matches the invite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8508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The 78 Atoms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8122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Fête Atlas v1   ·   16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1371600"/>
            <a:ext cx="8138160" cy="10973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— THE 78 ATOMS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 C · Build (T29–T38)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Vendors locked, ROS authored, child flow choreographed, parallel tracks designed.</a:t>
            </a:r>
            <a:endParaRPr lang="en-US" sz="1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81381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291840"/>
                <a:gridCol w="914400"/>
                <a:gridCol w="3566160"/>
              </a:tblGrid>
              <a:tr h="29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 · Skill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mode → 5-star benchmark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29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outreach with terms, scope, dates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NEG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Multi-round email chains → term sheet returned within one cycle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Counter-quote handling; protect hostess number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NEG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 leak or hostess price drift → closes within envelope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 vendor contracts from template + terms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OPS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drafting errors → zero redline from vendor side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Deposits, payment scheduling, invoicing ledger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OPS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 breakdown damages relationships → vendor never asks twice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Insurance, permits, COIs collected and stored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OPS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Day-of liability exposure → bundle ready 7d before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portal: each vendor sees their cue-sheet slice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OPS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Vendors don't know each other's timing → arrive knowing the neighbor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run-of-show from concept → minute-by-minute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LOG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ROS → reads like the script of THIS party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Child-flow choreography — stations pull children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LOG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Forced gathering → R9: move without instruction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Parallel-track design — kid track ends before adult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LOG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seam shows → R10: magic transition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Sensory cue sheet — music, light, scent shifts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LOG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Transitions feel like announcements → R8: rhythm felt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8508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The 78 Atoms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8122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Fête Atlas v1   ·   17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1371600"/>
            <a:ext cx="8138160" cy="10973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— THE 78 ATOMS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 C · Build, cont. (T39–T48)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rights pre-assigned, escalation tiered, contingencies branched, dry-run.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81381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291840"/>
                <a:gridCol w="914400"/>
                <a:gridCol w="3566160"/>
              </a:tblGrid>
              <a:tr h="29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 · Skill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mode → 5-star benchmark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29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Allergy / preference matrix per guest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LOG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Visible allergy moment → no child eats the wrong thing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Decision-rights pre-assignment (not hostess)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LOG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Pulled into a day-of decision → R7: zero questions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Escalation protocol with explicit “don't tell hostess” tier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LOG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 panic visible → recovery invisible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Pre-day site walk; camera angles, flow lines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· OPS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Day-of discovery problems → walk-through reveals nothing on the 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Dry-run cue sheet with planner + photographer + lead vendor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· OPS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Coordination misfire → cues hit silently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Hostess one-page day-of brief (no logistics)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COM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pack to read → one page, includes encouragement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CD/CEO evening-before check-in — vibe, not logistics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· CAR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Last-minute logistics rattle → she sleeps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 brief w/ relational geometry (in-laws inclusion)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· OPS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Misses the relational frame → every important relationship framed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Album delivery target set (Sunday a.m.); pipeline pre-staged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· OPS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Album slips past WhatsApp threads → R12: album beats the chatter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Contingency triggers (weather, no-show, meltdown)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OPS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Improvised recovery, visible stress → each branch pre-named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8508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The 78 Atoms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8122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Fête Atlas v1   ·   18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1371600"/>
            <a:ext cx="8138160" cy="10973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— THE 78 ATOMS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 D · Day-Of · part 1 (T49–T55)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Load-in invisible. ROS hits silently. Children move without being told.</a:t>
            </a:r>
            <a:endParaRPr lang="en-US" sz="1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81381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291840"/>
                <a:gridCol w="914400"/>
                <a:gridCol w="356616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 · Skill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mode → 5-star benchmark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arrival staging; load-in choreography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· OPS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Trucks at front while guests arrive → front-of-house always camera-ready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brief and assignment confirmation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· OPS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freelance roles → each knows lane, tell, escalation path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aesthetic walk-through; remove the wrong thing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· TST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“Mostly right” event → wrong thing never appears in a photo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Guest arrival management — greeted by 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· OPS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check-in → hostess sees guests received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 execution against ROS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LOG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Slippage compounds → on-cue within tolerance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Child-flow live management; station rotation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LOG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Children pool; parents pulled in → rotate without parent intervention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Adult-track pacing (drinks, dinner rollover)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LOG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Adult track lags; kids re-pool → adults released into adult mode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8508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The 78 Atoms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8122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Fête Atlas v1   ·   19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1371600"/>
            <a:ext cx="8138160" cy="10973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— THE 78 ATOMS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 D · Day-Of · part 2 (T56–T62)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hostess is shadowed. Recovery is invisible. The day ends warmly, not operationally.</a:t>
            </a:r>
            <a:endParaRPr lang="en-US" sz="1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81381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291840"/>
                <a:gridCol w="914400"/>
                <a:gridCol w="356616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 · Skill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mode → 5-star benchmark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Hostess shadow — knows what she'd want before she asks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· CAR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has to ask → she doesn't have to ask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In-flight contingency handling routed away from hostess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· OPS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Pulled into a vendor question → closed without her noticing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host / family / in-law coverage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· CRF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Misses the in-laws moment → R11: she asks about her 70th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Editorial coverage — still lifes, details, brand assets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· CRF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Documentary-only → ≥12 frames usable as Fête marketing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taste corrections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· TST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Errors crystallize into photos → wrong moments dissolve before captured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T61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End-of-event de-stage; quiet wrap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· OPS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 visible to lingering guests → wrap begins behind a curtain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T62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Hostess send-off — private moment with planner/CD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· CAR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fadeout → last memory of Fête is warm, not logistical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5765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D holds the densest concentration of HUMAN-quadrant atoms. The day is what we are paid for.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02920" y="48508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The 78 Atoms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8122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Fête Atlas v1   ·   20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02920" y="1371600"/>
            <a:ext cx="8138160" cy="10973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— THE 78 ATOMS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 E · Afterglow &amp; Loop · part 1 (T63–T70)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Same-night album. Personal follow-up. Referral activation at the emotional peak.</a:t>
            </a:r>
            <a:endParaRPr lang="en-US" sz="1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81381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291840"/>
                <a:gridCol w="914400"/>
                <a:gridCol w="356616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 · Skill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mode → 5-star benchmark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T63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Same-night photo cull (thousands → hundreds)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· CRF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Album slips → hours, not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T64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Editorial selection (hundreds → ~80 + 10 heroes)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· CRF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Curatorial weakness → hero set is print-grade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T65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Color, retouch pass on hero frames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· CRF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Untreated images undermine brand → hero frames portfolio-defensible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T66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Album rendered; shared link; mobile + download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· OPS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Friction in viewing → tap-view-save-share under 5 seconds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Album delivery message — warm, brief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· COM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notification → she forwards it in the school thread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T68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follow-up — voice memo, references a specific moment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· CAR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Templated thank-you → she replies emotionally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T69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Referral activation — frictionless intro at peak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COM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Asked too soon, transactionally → R14: she sends four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 / portfolio asset pipeline — clearance + tagging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· OPS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 has nothing → next deck has new hero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8508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The 78 Atoms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8122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Fête Atlas v1   ·   21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1371600"/>
            <a:ext cx="8138160" cy="10973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— THE 78 ATOMS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 E · Afterglow &amp; Loop · part 2 (T71–T78)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Vendor graph improves. Customer dossier compounds. The recap doc is a gift.</a:t>
            </a:r>
            <a:endParaRPr lang="en-US" sz="12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81381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291840"/>
                <a:gridCol w="914400"/>
                <a:gridCol w="356616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 · Skill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mode → 5-star benchmark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T71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scoring — reliability, taste fit, cost discipline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ANL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vendor, same mistake → vendor graph improves each event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T72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network growth — onboard the new long-tail vendor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OPS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One-shot vendor never returns → 2 new vendors per event onto the network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T73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dossier update — preferences, what she liked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ANL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Year-2 re-engagement starts cold → next birthday reads as continuation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T74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 hold — touch every quarter, not pitch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· CAR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 list → she thinks of Fête when her sister calls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Referral attribution + accounting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OPS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Referrals not tracked → each attributable to source event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T76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Post-mortem with planner + CD; lessons → playbook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OPS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mistakes recur → playbook version increments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T77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Hostess-grade recap doc (photo + one-page write-up)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· COM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touch is an invoice → she keeps 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T78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 signature — handwritten note on the recap doc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· TST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finish → she photographs 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5765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T71, T73, T75 are the compounding flywheel. T78 is the closing brand signature.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02920" y="48508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The 78 Atoms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8122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Fête Atlas v1   ·   22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02920" y="1371600"/>
            <a:ext cx="8138160" cy="10973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7724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C9A0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0" dirty="0"/>
          </a:p>
        </p:txBody>
      </p:sp>
      <p:sp>
        <p:nvSpPr>
          <p:cNvPr id="3" name="Text 1"/>
          <p:cNvSpPr/>
          <p:nvPr/>
        </p:nvSpPr>
        <p:spPr>
          <a:xfrm>
            <a:off x="502920" y="2606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C6B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40480" y="169164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Automation Quadrant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840480" y="2542032"/>
            <a:ext cx="548640" cy="27432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0" y="26974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6B6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Probability × Value. Where agents live, where the brand does.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— AUTOMATION QUADRANT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Scoring axes &amp; the four quadrants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score every atom for P(auto) and Value, then place it in one of four operating modes.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4023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P(auto)  </a:t>
            </a:r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probability an agent hits the 5-star benchmark in a well-built workflow.
</a:t>
            </a:r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H ≥ 0.75   ·   M 0.4–0.75   ·   L &lt; 0.4
</a:t>
            </a:r>
            <a:pPr indent="0" marL="0">
              <a:buNone/>
            </a:pPr>
            <a:r>
              <a:rPr lang="en-US" sz="10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 </a:t>
            </a:r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leverage on planner hours, margin, error tax, or compounding moat.
</a:t>
            </a:r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H = high leverage on the 3x thesis  ·  M = meaningful  ·  L = marginal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09160" y="1508760"/>
            <a:ext cx="3931920" cy="3017520"/>
          </a:xfrm>
          <a:prstGeom prst="rect">
            <a:avLst/>
          </a:prstGeom>
          <a:solidFill>
            <a:srgbClr val="FBFAF6"/>
          </a:solidFill>
          <a:ln w="12700">
            <a:solidFill>
              <a:srgbClr val="C6B6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5120" y="1508760"/>
            <a:ext cx="0" cy="3017520"/>
          </a:xfrm>
          <a:prstGeom prst="line">
            <a:avLst/>
          </a:prstGeom>
          <a:noFill/>
          <a:ln w="12700">
            <a:solidFill>
              <a:srgbClr val="C6B6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3017520"/>
            <a:ext cx="3931920" cy="0"/>
          </a:xfrm>
          <a:prstGeom prst="line">
            <a:avLst/>
          </a:prstGeom>
          <a:noFill/>
          <a:ln w="12700">
            <a:solidFill>
              <a:srgbClr val="C6B6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58191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0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AUG-HITL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00600" y="1801368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drafts, human approves. Largest bucket. Brand-risk checkpoint stays cheap.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766560" y="158191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66560" y="1801368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is the operator. High P, high/med value. Throughput backbone.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00600" y="309067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3310128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Irreducible brand core. Agent stays out of the perceived loop.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766560" y="309067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HUMAN-AI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66560" y="3310128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leads; agent provides scaffolding, recall, prep, decision trees.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09160" y="45994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lower P(auto)        ·        higher Value ↑        ·        higher P(auto)  →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2920" y="48508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Automation Quadrant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122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Fête Atlas v1   ·   23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1371600"/>
            <a:ext cx="8138160" cy="10973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— AUTOMATION QUADRANT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Distribution across the 78 atoms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work actually lives — and where the brand actually lives.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17320"/>
          <a:ext cx="42062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937760" y="1508760"/>
            <a:ext cx="73152" cy="6858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102352" y="1508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17920" y="1508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629400" y="1508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102352" y="1801368"/>
            <a:ext cx="3538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Back-of-house backbone of the 3x. Where the platform compounds.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937760" y="2286000"/>
            <a:ext cx="73152" cy="685800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02352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0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AUG-HITL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217920" y="2286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629400" y="2286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102352" y="2578608"/>
            <a:ext cx="3538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single bucket. The right place to iterate workflows.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937760" y="3063240"/>
            <a:ext cx="73152" cy="685800"/>
          </a:xfrm>
          <a:prstGeom prst="rect">
            <a:avLst/>
          </a:prstGeom>
          <a:solidFill>
            <a:srgbClr val="1E3A60"/>
          </a:solidFill>
          <a:ln w="12700">
            <a:solidFill>
              <a:srgbClr val="1E3A6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02352" y="3063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HUMAN-AI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217920" y="3063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629400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102352" y="3355848"/>
            <a:ext cx="3538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work. Agent makes the human effortless.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937760" y="3840480"/>
            <a:ext cx="73152" cy="685800"/>
          </a:xfrm>
          <a:prstGeom prst="rect">
            <a:avLst/>
          </a:prstGeom>
          <a:solidFill>
            <a:srgbClr val="8B1E1E"/>
          </a:solidFill>
          <a:ln w="12700">
            <a:solidFill>
              <a:srgbClr val="8B1E1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102352" y="3840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217920" y="3840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629400" y="3840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102352" y="4133088"/>
            <a:ext cx="3538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Irreducible brand core. Each maps to a load-bearing review line.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02920" y="48508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Automation Quadrant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8122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Fête Atlas v1   ·   24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02920" y="1371600"/>
            <a:ext cx="8138160" cy="10973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— AUTOMATION QUADRANT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 · 22 atoms · The backbone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is the operator. Mostly back-of-house. Where the 3x throughput compounds.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8138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capture   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T02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 qualification   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T03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enrichment   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T09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 recap note   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Moodboard captions   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T16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longlist gen   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T24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capture   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T25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instantiation   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T28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copy + visual   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T29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outreach   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T31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generation   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T32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 + invoicing   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T33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 / permit chase   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T34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portal   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T39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Allergy matrix   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T44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Hostess one-pager   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T47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Album pipeline pre-stage   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T52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Greeted-by-name manifest   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T63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Same-night cull   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T65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/ retouch (non-hero)   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T66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Album render + share   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T67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Album delivery message   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T70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pipeline   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T71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scoring   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T73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dossier update   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T75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attribution    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160520"/>
            <a:ext cx="8138160" cy="502920"/>
          </a:xfrm>
          <a:prstGeom prst="rect">
            <a:avLst/>
          </a:prstGeom>
          <a:solidFill>
            <a:srgbClr val="F5F1E3"/>
          </a:solidFill>
          <a:ln w="12700">
            <a:solidFill>
              <a:srgbClr val="F5F1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206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are AUTO: structured tasks (ingest, dedup, contract templates, payments), narrowly-scoped inference (longlist generation, dossier maintenance), tone-trained drafting at brand voice, and frontier-strength vision tasks (same-night cull at scale).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48508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Automation Quadrant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122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Fête Atlas v1   ·   25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1371600"/>
            <a:ext cx="8138160" cy="10973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— AUTOMATION QUADRANT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AUG-HITL · 28 atoms · The design surface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drafts. Human owns the brand outcome. The biggest leverage on workflow iteration.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8138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T04 </a:t>
            </a:r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Aesthetic posture inference    </a:t>
            </a:r>
            <a:pPr indent="0" marL="0">
              <a:buNone/>
            </a:pPr>
            <a:r>
              <a:rPr lang="en-US" sz="105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T05 </a:t>
            </a:r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Discretion / sensitivity detection    </a:t>
            </a:r>
            <a:pPr indent="0" marL="0">
              <a:buNone/>
            </a:pPr>
            <a:r>
              <a:rPr lang="en-US" sz="105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T07 </a:t>
            </a:r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capture (stated + unstated)    </a:t>
            </a:r>
            <a:pPr indent="0" marL="0">
              <a:buNone/>
            </a:pPr>
            <a:r>
              <a:rPr lang="en-US" sz="105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 </a:t>
            </a:r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 vector synthesis    </a:t>
            </a:r>
            <a:pPr indent="0" marL="0">
              <a:buNone/>
            </a:pPr>
            <a:r>
              <a:rPr lang="en-US" sz="105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T12 </a:t>
            </a:r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 to push / suppress    </a:t>
            </a:r>
            <a:pPr indent="0" marL="0">
              <a:buNone/>
            </a:pPr>
            <a:r>
              <a:rPr lang="en-US" sz="105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T13 </a:t>
            </a:r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Moodboard composition    </a:t>
            </a:r>
            <a:pPr indent="0" marL="0">
              <a:buNone/>
            </a:pPr>
            <a:r>
              <a:rPr lang="en-US" sz="105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T17 </a:t>
            </a:r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+ social-overlap check    </a:t>
            </a:r>
            <a:pPr indent="0" marL="0">
              <a:buNone/>
            </a:pPr>
            <a:r>
              <a:rPr lang="en-US" sz="105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T18 </a:t>
            </a:r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 + rationale    </a:t>
            </a:r>
            <a:pPr indent="0" marL="0">
              <a:buNone/>
            </a:pPr>
            <a:r>
              <a:rPr lang="en-US" sz="105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T21 </a:t>
            </a:r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Pre-negotiate vendor ranges    </a:t>
            </a:r>
            <a:pPr indent="0" marL="0">
              <a:buNone/>
            </a:pPr>
            <a:r>
              <a:rPr lang="en-US" sz="105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T22 </a:t>
            </a:r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scope proposal    </a:t>
            </a:r>
            <a:pPr indent="0" marL="0">
              <a:buNone/>
            </a:pPr>
            <a:r>
              <a:rPr lang="en-US" sz="105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T23 </a:t>
            </a:r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Story-document proposal    </a:t>
            </a:r>
            <a:pPr indent="0" marL="0">
              <a:buNone/>
            </a:pPr>
            <a:r>
              <a:rPr lang="en-US" sz="105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T27 </a:t>
            </a:r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image render    </a:t>
            </a:r>
            <a:pPr indent="0" marL="0">
              <a:buNone/>
            </a:pPr>
            <a:r>
              <a:rPr lang="en-US" sz="105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T30 </a:t>
            </a:r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Counter-quote handling    </a:t>
            </a:r>
            <a:pPr indent="0" marL="0">
              <a:buNone/>
            </a:pPr>
            <a:r>
              <a:rPr lang="en-US" sz="105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T35 </a:t>
            </a:r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authoring    </a:t>
            </a:r>
            <a:pPr indent="0" marL="0">
              <a:buNone/>
            </a:pPr>
            <a:r>
              <a:rPr lang="en-US" sz="105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T37 </a:t>
            </a:r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Parallel-track design    </a:t>
            </a:r>
            <a:pPr indent="0" marL="0">
              <a:buNone/>
            </a:pPr>
            <a:r>
              <a:rPr lang="en-US" sz="105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T38 </a:t>
            </a:r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Sensory cue sheet    </a:t>
            </a:r>
            <a:pPr indent="0" marL="0">
              <a:buNone/>
            </a:pPr>
            <a:r>
              <a:rPr lang="en-US" sz="105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T40 </a:t>
            </a:r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Decision-rights pre-assignment    </a:t>
            </a:r>
            <a:pPr indent="0" marL="0">
              <a:buNone/>
            </a:pPr>
            <a:r>
              <a:rPr lang="en-US" sz="105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T41 </a:t>
            </a:r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triggers    </a:t>
            </a:r>
            <a:pPr indent="0" marL="0">
              <a:buNone/>
            </a:pPr>
            <a:r>
              <a:rPr lang="en-US" sz="105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T46 </a:t>
            </a:r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brief w/ relational geometry    </a:t>
            </a:r>
            <a:pPr indent="0" marL="0">
              <a:buNone/>
            </a:pPr>
            <a:r>
              <a:rPr lang="en-US" sz="105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T48 </a:t>
            </a:r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brief &amp; confirmation    </a:t>
            </a:r>
            <a:pPr indent="0" marL="0">
              <a:buNone/>
            </a:pPr>
            <a:r>
              <a:rPr lang="en-US" sz="105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T50 </a:t>
            </a:r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de-stage    </a:t>
            </a:r>
            <a:pPr indent="0" marL="0">
              <a:buNone/>
            </a:pPr>
            <a:r>
              <a:rPr lang="en-US" sz="105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T61 </a:t>
            </a:r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 selection (heroes)    </a:t>
            </a:r>
            <a:pPr indent="0" marL="0">
              <a:buNone/>
            </a:pPr>
            <a:r>
              <a:rPr lang="en-US" sz="105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T64 </a:t>
            </a:r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activation    </a:t>
            </a:r>
            <a:pPr indent="0" marL="0">
              <a:buNone/>
            </a:pPr>
            <a:r>
              <a:rPr lang="en-US" sz="105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T69 </a:t>
            </a:r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onboarding    </a:t>
            </a:r>
            <a:pPr indent="0" marL="0">
              <a:buNone/>
            </a:pPr>
            <a:r>
              <a:rPr lang="en-US" sz="105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T72 </a:t>
            </a:r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Post-mortem &amp; playbook update    </a:t>
            </a:r>
            <a:pPr indent="0" marL="0">
              <a:buNone/>
            </a:pPr>
            <a:r>
              <a:rPr lang="en-US" sz="105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T76 </a:t>
            </a:r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doc    </a:t>
            </a:r>
            <a:pPr indent="0" marL="0">
              <a:buNone/>
            </a:pPr>
            <a:r>
              <a:rPr lang="en-US" sz="105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T77 </a:t>
            </a:r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4343400"/>
            <a:ext cx="8138160" cy="365760"/>
          </a:xfrm>
          <a:prstGeom prst="rect">
            <a:avLst/>
          </a:prstGeom>
          <a:solidFill>
            <a:srgbClr val="F5F1E3"/>
          </a:solidFill>
          <a:ln w="12700">
            <a:solidFill>
              <a:srgbClr val="F5F1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3708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rule: an AUG-HITL atom graduates to AUTO when P(auto) clears H without a regression in brand-destroying risk (G3). Otherwise, the human stays in the loop.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48508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Automation Quadrant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122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Fête Atlas v1   ·   26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1371600"/>
            <a:ext cx="8138160" cy="10973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— AUTOMATION QUADRANT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HUMAN-AI (13) and HUMAN (15)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work where agents make humans effortless · and the irreducible brand core.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HUMAN-AI · 13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leads. Agent provides scaffolding, recall, decision trees, countdowns, prep, zero-effort tooling.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2514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T36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" y="251460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Child-flow choreography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7157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" y="271576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Pre-day site walk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91693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5840" y="291693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11810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T49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05840" y="311810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Load-in choreography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33192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05840" y="331927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 execution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35204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T55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05840" y="352044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Adult-track pacing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37216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T57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05840" y="372160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In-flight contingency handling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392277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T58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05840" y="392277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family/in-law coverage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412394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T59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05840" y="412394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 coverage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43251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T74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05840" y="432511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hold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00600" y="15544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· 15  ·  the brand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00600" y="18745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these atoms maps to a load-bearing sentence of the review. If any degrades, the review collapses.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251460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T06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257800" y="251460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conversation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00600" y="267919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T08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257800" y="267919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taste arbitration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00600" y="284378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257800" y="284378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private channel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00600" y="3008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T14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257800" y="300837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final moodboard pass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00600" y="31729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T19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257800" y="317296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taste pairing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00600" y="33375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T20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257800" y="33375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Dual-budget surfacing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800600" y="35021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T26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257800" y="35021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introduction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800600" y="3666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T45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257800" y="366674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evening-before check-in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800600" y="383133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T51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257800" y="38313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aesthetic walk-through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800600" y="399592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T54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257800" y="399592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Child-flow live management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800600" y="41605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T56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257800" y="416052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Hostess shadow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800600" y="432511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T60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257800" y="432511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taste corrections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800600" y="44897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T62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257800" y="448970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Hostess send-off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800600" y="465429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T68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257800" y="465429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follow-up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800600" y="481888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T78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257800" y="481888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handwritten note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502920" y="48508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Automation Quadrant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8122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Fête Atlas v1   ·   27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02920" y="1371600"/>
            <a:ext cx="8138160" cy="10973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7724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C9A0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6000" dirty="0"/>
          </a:p>
        </p:txBody>
      </p:sp>
      <p:sp>
        <p:nvSpPr>
          <p:cNvPr id="3" name="Text 1"/>
          <p:cNvSpPr/>
          <p:nvPr/>
        </p:nvSpPr>
        <p:spPr>
          <a:xfrm>
            <a:off x="502920" y="2606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C6B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40480" y="169164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Read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840480" y="2542032"/>
            <a:ext cx="548640" cy="27432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0" y="26974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6B6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atlas tells us about the business — five takeaways.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— STRATEGIC READ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takeaways from the atomized map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the atlas back at the business level. These are the implications.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481328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0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05840" y="1481328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3x throughput is real, and it's mostly back-of-house.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755648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 of atoms (AUTO + AUG-HITL) are pipeline-grade. Enrichment, vendor matching, contracts, ledger, photo pipeline, dossier and vendor-graph updates. This is where planner hours collapse.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139696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0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05840" y="2139696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brand lives in 15 atoms.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414016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quadrant maps one-to-one to load-bearing sentences in the review. Post-automation, the planner's day should be these 15 atoms and nothing else.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798064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0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005840" y="2798064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AUG-HITL is where iteration moves the frontier.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3072384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atoms, all high value, all improvable. Workflow iteration here moves throughput and protects brand simultaneously. Promotion rule respects G3 (brand-destroying risk).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456432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0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005840" y="3456432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compounding assets are AUTO.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3730752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T71 (vendor scoring), T72 (vendor onboarding), T73 (customer dossier), T75 (referral attribution). The flywheel runs on agents. Every event makes the next event easier.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411480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0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05840" y="4114800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membrane (G1) is the most important brand asset.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4389120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atoms score on aesthetic and emotional benchmarks; BoH atoms on speed and accuracy. A BoH atom that leaks to the customer becomes a stage atom and must be re-rendered.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8508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Strategic Read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122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Fête Atlas v1   ·   28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1371600"/>
            <a:ext cx="8138160" cy="10973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— STRATEGIC READ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Membrane (G1)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line between what the customer perceives and what she does not.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3886200" cy="2926080"/>
          </a:xfrm>
          <a:prstGeom prst="rect">
            <a:avLst/>
          </a:prstGeom>
          <a:solidFill>
            <a:srgbClr val="F5F1E3"/>
          </a:solidFill>
          <a:ln w="12700">
            <a:solidFill>
              <a:srgbClr val="F5F1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54480"/>
            <a:ext cx="3886200" cy="54864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916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she perceives.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against aesthetic and emotional benchmarks.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743200"/>
            <a:ext cx="3429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Moodboard, captions, key image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Story-document proposal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Hostess one-page brief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The day itself — staff register, music, scent, light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The album, the recap, the handwritten note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554480"/>
            <a:ext cx="3886200" cy="292608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554480"/>
            <a:ext cx="3886200" cy="54864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6916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BACK-OF-HOUSE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83480" y="19659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she does not.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83480" y="23317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6B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against speed and accuracy benchmarks.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83480" y="2743200"/>
            <a:ext cx="3429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Enrichment, vendor scoring, CRM dossier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Contracts, deposits, COIs, vendor portal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Site walk, dry run, contingency trees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Cull pipeline, retouch (non-hero), portfolio tagging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Referral attribution, post-mortem, playbook diff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45948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R15 rule: a back-of-house atom that leaks to the customer becomes a stage atom and must be re-rendered. Crossings of this line break the meta-promise.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48508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Strategic Read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122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Fête Atlas v1   ·   29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1371600"/>
            <a:ext cx="8138160" cy="10973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— STRATEGIC READ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compounding flywheel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assets compound across every event. Both are AUTO-quadrant. The thesis at atomic resolution.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194560" cy="2194560"/>
          </a:xfrm>
          <a:prstGeom prst="ellipse">
            <a:avLst/>
          </a:prstGeom>
          <a:solidFill>
            <a:srgbClr val="F5F1E3"/>
          </a:solidFill>
          <a:ln w="25400">
            <a:solidFill>
              <a:srgbClr val="C9A0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28600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VENDOR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T71 · T72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0" y="2468880"/>
            <a:ext cx="1828800" cy="91440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0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(any of N)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17920" y="2011680"/>
            <a:ext cx="2194560" cy="2194560"/>
          </a:xfrm>
          <a:prstGeom prst="ellipse">
            <a:avLst/>
          </a:prstGeom>
          <a:solidFill>
            <a:srgbClr val="F5F1E3"/>
          </a:solidFill>
          <a:ln w="25400">
            <a:solidFill>
              <a:srgbClr val="C9A0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228600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REFERRAL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DOSSIER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17920" y="3566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T73 · T75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26080" y="2852928"/>
            <a:ext cx="713232" cy="0"/>
          </a:xfrm>
          <a:prstGeom prst="line">
            <a:avLst/>
          </a:prstGeom>
          <a:noFill/>
          <a:ln w="25400">
            <a:solidFill>
              <a:srgbClr val="C9A04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926080" y="2999232"/>
            <a:ext cx="713232" cy="0"/>
          </a:xfrm>
          <a:prstGeom prst="line">
            <a:avLst/>
          </a:prstGeom>
          <a:noFill/>
          <a:ln w="19050">
            <a:solidFill>
              <a:srgbClr val="C6B690"/>
            </a:solidFill>
            <a:prstDash val="solid"/>
            <a:headEnd type="triangle"/>
          </a:ln>
        </p:spPr>
      </p:sp>
      <p:sp>
        <p:nvSpPr>
          <p:cNvPr id="16" name="Shape 14"/>
          <p:cNvSpPr/>
          <p:nvPr/>
        </p:nvSpPr>
        <p:spPr>
          <a:xfrm>
            <a:off x="5486400" y="2852928"/>
            <a:ext cx="713232" cy="0"/>
          </a:xfrm>
          <a:prstGeom prst="line">
            <a:avLst/>
          </a:prstGeom>
          <a:noFill/>
          <a:ln w="25400">
            <a:solidFill>
              <a:srgbClr val="C9A04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86400" y="2999232"/>
            <a:ext cx="713232" cy="0"/>
          </a:xfrm>
          <a:prstGeom prst="line">
            <a:avLst/>
          </a:prstGeom>
          <a:noFill/>
          <a:ln w="19050">
            <a:solidFill>
              <a:srgbClr val="C6B690"/>
            </a:solidFill>
            <a:prstDash val="solid"/>
            <a:headEnd type="triangle"/>
          </a:ln>
        </p:spPr>
      </p:sp>
      <p:sp>
        <p:nvSpPr>
          <p:cNvPr id="18" name="Text 16"/>
          <p:cNvSpPr/>
          <p:nvPr/>
        </p:nvSpPr>
        <p:spPr>
          <a:xfrm>
            <a:off x="2743200" y="24688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743200" y="32004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 back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440680" y="24688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440680" y="32004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 back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02920" y="4274820"/>
            <a:ext cx="8138160" cy="457200"/>
          </a:xfrm>
          <a:prstGeom prst="rect">
            <a:avLst/>
          </a:prstGeom>
          <a:solidFill>
            <a:srgbClr val="F5F1E3"/>
          </a:solidFill>
          <a:ln w="12700">
            <a:solidFill>
              <a:srgbClr val="F5F1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30225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spends planner hours once, then deposits into two compounding ledgers. Both ledgers are maintained by agents (AUTO). This is where the platform thesis materializes at atomic resolution.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48508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Strategic Read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122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Fête Atlas v1   ·   30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2920" y="1371600"/>
            <a:ext cx="8138160" cy="10973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— STRATEGIC READ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Index pointers · for designing the next iteration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read when you start a design cycle. Stay close to the atoms.</a:t>
            </a:r>
            <a:endParaRPr lang="en-US" sz="12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81381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10896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you are designing…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these columns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Iterate against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new agent workflow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Atom benchmark + failure mode + P(auto)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AUG-HITL bucket; promote to AUTO when G3 risk doesn't regress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intake experience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 A atoms T01–T10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R2, R3, R6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moodboard product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T11–T15, T19, T27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R3, R4, R5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vendor platform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T16–T19, T29–T34, T71–T72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G5 (compounding asset lens)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run-of-show product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T35–T41, T48, T53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R7, R8, R9, R10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Day-of operating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T49–T62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membrane (G1) and the 15 HUMAN atoms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album product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T46–T47, T58–T59, T63–T67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R12, R13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loop / CRM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T68–T78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R11, R14, compounding assets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8508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Strategic Read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8122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Fête Atlas v1   ·   31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1371600"/>
            <a:ext cx="8138160" cy="10973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7724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C9A0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6000" dirty="0"/>
          </a:p>
        </p:txBody>
      </p:sp>
      <p:sp>
        <p:nvSpPr>
          <p:cNvPr id="3" name="Text 1"/>
          <p:cNvSpPr/>
          <p:nvPr/>
        </p:nvSpPr>
        <p:spPr>
          <a:xfrm>
            <a:off x="502920" y="2606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C6B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40480" y="169164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Index &amp; Appendix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840480" y="2542032"/>
            <a:ext cx="548640" cy="27432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0" y="26974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6B6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Glossary, cross-references, and the closing note.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— INDEX &amp; APPENDIX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Glossary · one-line definitions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Internal vocabulary used throughout the atlas.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meta-promise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971800" y="150876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will be the guest of honor at your own party, and the party will look like you, not like a party.” The contract.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8379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membrane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71800" y="1837944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G1 boundary between what the customer perceives (Stage) and what she does not (Back-of-house).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1671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5-star benchmark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71800" y="216712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“5-star looks like…” column on each atom. Agents must hit this in expectation, not just on average.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49631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71800" y="249631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is the operator. Customer doesn't perceive an agent; she perceives a result.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82549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AUG-HITL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71800" y="2825496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drafts; human owns the brand outcome. The checkpoint is the brand's insurance policy.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1546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HUMAN-AI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71800" y="315468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leads; agent provides scaffolding, recall, decision trees, prep. Customer perceives the human.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348386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71800" y="3483864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Customer-facing moment that is, by design, a person. Agent's role is invisible support.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38130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two compounding assets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71800" y="381304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network (T71, T72) and customer dossier + referrals (T73, T75).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414223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Persona-stable / persona-tunable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971800" y="414223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78 atoms don't change with the customer register. The voice, cultural codes, and tone-trained outputs do.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48508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Index &amp; Appendix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122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Fête Atlas v1   ·   32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" y="1371600"/>
            <a:ext cx="8138160" cy="10973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— INDEX &amp; APPENDIX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Cross-reference · review line → atoms · part 1 (R1–R8)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auditing whether we can produce Caroline's review, walk top to bottom.</a:t>
            </a:r>
            <a:endParaRPr lang="en-US" sz="12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81381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4114800"/>
                <a:gridCol w="35661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she said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Atoms that produced 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 at her own party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T40, T41, T56, T57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 with a friend who had the brief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T03, T05, T06, T07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Moodboard I wanted to print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T11, T13, T14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was ours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T08, T11, T12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Carmel ceramicist I'd never come across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T16, T18, T19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I quietly gave, not the household ledger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T05, T20, T21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one asked me anything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T40, T41, T56, T57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Rhythm but not the mechanics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T38, T53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8508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Index &amp; Appendix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8122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Fête Atlas v1   ·   33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1371600"/>
            <a:ext cx="8138160" cy="10973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— INDEX &amp; APPENDIX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Cross-reference · review line → atoms · part 2 (R9–R15)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loop side. R15 is the meta-promise; enforced by the membrane across all Stage atoms.</a:t>
            </a:r>
            <a:endParaRPr lang="en-US" sz="12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81381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4114800"/>
                <a:gridCol w="35661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she said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Atoms that produced 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Children moved without realizing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T36, T54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Adults transitioned, kids had eaten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T37, T55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Mother-in-law asked about her 70th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T46, T51, T58, T60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Album before the threads woke 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T47, T63, T64, T66, T67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framed in the hallway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T58, T59, T64, T65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 Fête to four mothers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T68, T69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Felt staged for, not managed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Stage atoms; enforced by the membrane (G1)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6B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8508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Index &amp; Appendix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81228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Fête Atlas v1   ·   34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1371600"/>
            <a:ext cx="8138160" cy="10973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371600"/>
            <a:ext cx="1280160" cy="36576"/>
          </a:xfrm>
          <a:prstGeom prst="rect">
            <a:avLst/>
          </a:prstGeom>
          <a:solidFill>
            <a:srgbClr val="C9A04E"/>
          </a:solidFill>
          <a:ln w="12700">
            <a:solidFill>
              <a:srgbClr val="C9A0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6012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· V1 OF AN ITERATING DOCUMENT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8138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B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do not iterate the party.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B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iterate the system that produces the party.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29718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6B6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this atlas. Bring designs to it. Score them against the atoms they touch.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454914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6B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Fête Kids   ·   Founding Team   ·   Internal use only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Experience-to-Atomic Atlas v1 — Founding Team Walkthrough</dc:title>
  <dc:subject>PptxGenJS Presentation</dc:subject>
  <dc:creator>Fête Kids</dc:creator>
  <cp:lastModifiedBy>Fête Kids</cp:lastModifiedBy>
  <cp:revision>1</cp:revision>
  <dcterms:created xsi:type="dcterms:W3CDTF">2026-05-28T17:39:36Z</dcterms:created>
  <dcterms:modified xsi:type="dcterms:W3CDTF">2026-05-28T17:39:36Z</dcterms:modified>
</cp:coreProperties>
</file>